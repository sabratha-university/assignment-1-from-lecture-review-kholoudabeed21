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</p:sldIdLst>
  <p:sldSz cx="18288000" cy="10287000"/>
  <p:notesSz cx="6858000" cy="9144000"/>
  <p:embeddedFontLst>
    <p:embeddedFont>
      <p:font typeface="Castellar" pitchFamily="18" charset="0"/>
      <p:regular r:id="rId12"/>
    </p:embeddedFont>
    <p:embeddedFont>
      <p:font typeface="Calibri" pitchFamily="34" charset="0"/>
      <p:regular r:id="rId13"/>
      <p:bold r:id="rId14"/>
    </p:embeddedFont>
    <p:embeddedFont>
      <p:font typeface="Wellfleet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1" d="100"/>
          <a:sy n="51" d="100"/>
        </p:scale>
        <p:origin x="-456" y="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jp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5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4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7" Type="http://schemas.openxmlformats.org/officeDocument/2006/relationships/image" Target="../media/image13.png"/><Relationship Id="rId2" Type="http://schemas.openxmlformats.org/officeDocument/2006/relationships/image" Target="../media/image2.png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15" Type="http://schemas.openxmlformats.org/officeDocument/2006/relationships/image" Target="../media/image12.png"/><Relationship Id="rId10" Type="http://schemas.openxmlformats.org/officeDocument/2006/relationships/image" Target="../media/image6.png"/><Relationship Id="rId19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file:///C:\Users\kholoud\OneDrive\Immagini\hLZTRjn45BvVQTzXb9jwkxkL2bojGjGaAwILcX1bYxX024tioSQArmxZSSAsz88sWIey1XBv4JHKgLJWIUotuSoVFJEs5mLo4SLppfdl_CuvC_iaPPYoR1vrEmzGSLQSvXVvx_cV-TK85J_bV-GNAByeJekp_6t-8V-0YdFuTv5V5gya_NNn9hzH8l3vcrWMRs%20(1).svg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hyperlink" Target="file:///C:\Users\kholoud\OneDrive\Immagini\RLNDRXen4BuZyGuZBaaEfFS8eVmTsqjHSyh50eUikjcDTesYgEq10YdYBQgAGaX8IYbfU9FnstHixwwz2nU4PpxFV3FxpVWm5YmIdIk_NFBvXG0HGkIrBmMql8WtXHS6vLAvn9eYZA224zcN0rpY39_nHGv06N2D4pgCAi1Y-1JpoC9_oe4SoNimz-GTtPlYWmOUjQwy81SO.sv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hyperlink" Target="file:///C:\Users\kholoud\OneDrive\Immagini\jLZRRjms47rVOF-1s9UkWLpU2pI8tQ20WIG84lG3w1Njg958WzBQtKTVOUnV5AcpziBsDdMGrlqIwcyol4YYH3BM5ju4WMdDuN1cUCvebETPZda-JfD-Bu_pX20n5xV5iVo7n0mMTyL9SLnCnKpCKN5GJ55nAlu5omaIvs81Zp-BIuK4t15ilX2N_Lw_XqSvusYW3U8M33TY.sv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5.gif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16.gif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5.png"/><Relationship Id="rId1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84538" y="2778727"/>
            <a:ext cx="6516278" cy="5182890"/>
          </a:xfrm>
          <a:custGeom>
            <a:avLst/>
            <a:gdLst/>
            <a:ahLst/>
            <a:cxnLst/>
            <a:rect l="l" t="t" r="r" b="b"/>
            <a:pathLst>
              <a:path w="7644355" h="7029621">
                <a:moveTo>
                  <a:pt x="0" y="0"/>
                </a:moveTo>
                <a:lnTo>
                  <a:pt x="7644355" y="0"/>
                </a:lnTo>
                <a:lnTo>
                  <a:pt x="7644355" y="7029622"/>
                </a:lnTo>
                <a:lnTo>
                  <a:pt x="0" y="7029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789256" y="129025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28281" y="773876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725909" y="6141138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13988" y="721327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215803" y="-491499"/>
            <a:ext cx="1928197" cy="1978560"/>
          </a:xfrm>
          <a:custGeom>
            <a:avLst/>
            <a:gdLst/>
            <a:ahLst/>
            <a:cxnLst/>
            <a:rect l="l" t="t" r="r" b="b"/>
            <a:pathLst>
              <a:path w="1928197" h="1978560">
                <a:moveTo>
                  <a:pt x="0" y="0"/>
                </a:moveTo>
                <a:lnTo>
                  <a:pt x="1928197" y="0"/>
                </a:lnTo>
                <a:lnTo>
                  <a:pt x="1928197" y="1978560"/>
                </a:lnTo>
                <a:lnTo>
                  <a:pt x="0" y="1978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437123" y="9258300"/>
            <a:ext cx="1900973" cy="1950626"/>
          </a:xfrm>
          <a:custGeom>
            <a:avLst/>
            <a:gdLst/>
            <a:ahLst/>
            <a:cxnLst/>
            <a:rect l="l" t="t" r="r" b="b"/>
            <a:pathLst>
              <a:path w="1900973" h="1950626">
                <a:moveTo>
                  <a:pt x="0" y="0"/>
                </a:moveTo>
                <a:lnTo>
                  <a:pt x="1900973" y="0"/>
                </a:lnTo>
                <a:lnTo>
                  <a:pt x="1900973" y="1950626"/>
                </a:lnTo>
                <a:lnTo>
                  <a:pt x="0" y="1950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31829" y="4944754"/>
            <a:ext cx="8879957" cy="1859271"/>
          </a:xfrm>
          <a:custGeom>
            <a:avLst/>
            <a:gdLst/>
            <a:ahLst/>
            <a:cxnLst/>
            <a:rect l="l" t="t" r="r" b="b"/>
            <a:pathLst>
              <a:path w="8879957" h="1859271">
                <a:moveTo>
                  <a:pt x="0" y="0"/>
                </a:moveTo>
                <a:lnTo>
                  <a:pt x="8879957" y="0"/>
                </a:lnTo>
                <a:lnTo>
                  <a:pt x="8879957" y="1859271"/>
                </a:lnTo>
                <a:lnTo>
                  <a:pt x="0" y="18592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5838825" y="1869090"/>
            <a:ext cx="281340" cy="2813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0" y="1750027"/>
            <a:ext cx="112421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SA" sz="36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جامعة صبراتة </a:t>
            </a:r>
          </a:p>
          <a:p>
            <a:pPr algn="ctr">
              <a:lnSpc>
                <a:spcPct val="150000"/>
              </a:lnSpc>
            </a:pPr>
            <a:r>
              <a:rPr lang="ar-SA" sz="36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كلية تقنية المعلومات الجميل </a:t>
            </a:r>
          </a:p>
          <a:p>
            <a:pPr algn="ctr">
              <a:lnSpc>
                <a:spcPct val="150000"/>
              </a:lnSpc>
            </a:pPr>
            <a:r>
              <a:rPr lang="ar-SA" sz="36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قسم : هندسة البرمجيات </a:t>
            </a:r>
          </a:p>
          <a:p>
            <a:pPr algn="ctr">
              <a:lnSpc>
                <a:spcPct val="150000"/>
              </a:lnSpc>
            </a:pPr>
            <a:endParaRPr lang="en-US" sz="3600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15623" y="5074014"/>
            <a:ext cx="7799322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37"/>
              </a:lnSpc>
            </a:pPr>
            <a:r>
              <a:rPr lang="ar-SA" sz="4400" b="1" dirty="0" smtClean="0">
                <a:solidFill>
                  <a:srgbClr val="FFF6E7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نظام إدارة المكتبة الذكي</a:t>
            </a:r>
            <a:endParaRPr lang="en-US" sz="4400" b="1" dirty="0">
              <a:solidFill>
                <a:srgbClr val="FFF6E7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27972" y="7376807"/>
            <a:ext cx="8374624" cy="72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11"/>
              </a:lnSpc>
            </a:pP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خلود الطاهر عبيد . </a:t>
            </a:r>
            <a:endParaRPr lang="en-US" sz="3200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19"/>
          <p:cNvSpPr txBox="1"/>
          <p:nvPr/>
        </p:nvSpPr>
        <p:spPr>
          <a:xfrm>
            <a:off x="1677889" y="7934394"/>
            <a:ext cx="8374624" cy="72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11"/>
              </a:lnSpc>
            </a:pP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رواسي رمضان </a:t>
            </a:r>
            <a:r>
              <a:rPr lang="ar-SA" sz="3200" b="1" dirty="0" err="1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المرناقي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.</a:t>
            </a:r>
            <a:endParaRPr lang="en-US" sz="3200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pic>
        <p:nvPicPr>
          <p:cNvPr id="28" name="صورة 2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314" y="1029603"/>
            <a:ext cx="1678973" cy="16789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9" name="صورة 2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955977"/>
            <a:ext cx="1752599" cy="17525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208951" y="2520315"/>
            <a:ext cx="5246370" cy="524637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162" y="0"/>
                  </a:moveTo>
                  <a:lnTo>
                    <a:pt x="731638" y="0"/>
                  </a:lnTo>
                  <a:cubicBezTo>
                    <a:pt x="776463" y="0"/>
                    <a:pt x="812800" y="36337"/>
                    <a:pt x="812800" y="81162"/>
                  </a:cubicBezTo>
                  <a:lnTo>
                    <a:pt x="812800" y="731638"/>
                  </a:lnTo>
                  <a:cubicBezTo>
                    <a:pt x="812800" y="776463"/>
                    <a:pt x="776463" y="812800"/>
                    <a:pt x="731638" y="812800"/>
                  </a:cubicBezTo>
                  <a:lnTo>
                    <a:pt x="81162" y="812800"/>
                  </a:lnTo>
                  <a:cubicBezTo>
                    <a:pt x="36337" y="812800"/>
                    <a:pt x="0" y="776463"/>
                    <a:pt x="0" y="731638"/>
                  </a:cubicBezTo>
                  <a:lnTo>
                    <a:pt x="0" y="81162"/>
                  </a:lnTo>
                  <a:cubicBezTo>
                    <a:pt x="0" y="36337"/>
                    <a:pt x="36337" y="0"/>
                    <a:pt x="81162" y="0"/>
                  </a:cubicBezTo>
                  <a:close/>
                </a:path>
              </a:pathLst>
            </a:custGeom>
            <a:blipFill>
              <a:blip r:embed="rId10"/>
              <a:stretch>
                <a:fillRect l="-24906" r="-2490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02325" y="2582992"/>
            <a:ext cx="8917697" cy="129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770"/>
              </a:lnSpc>
            </a:pPr>
            <a:r>
              <a:rPr lang="ar-SA" sz="7693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مقدمة :</a:t>
            </a:r>
            <a:endParaRPr lang="en-US" sz="7693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20068" y="4685506"/>
            <a:ext cx="8703385" cy="287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نظام إدارة المكتبة هو نظام برمجي يهدف إلى تنظيم وإدارة الكتب وعمليات الاستعارة والإرجاع داخل المكتبة.</a:t>
            </a:r>
          </a:p>
          <a:p>
            <a:pPr algn="r">
              <a:lnSpc>
                <a:spcPct val="150000"/>
              </a:lnSpc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يساعد النظام في تقليل الأخطاء، تسهيل الوصول إلى البيانات، وتحسين كفاءة 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العمل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 مقارنة بالإدارة اليدوية.</a:t>
            </a:r>
            <a:endParaRPr lang="en-US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01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18961" y="2236313"/>
            <a:ext cx="8917697" cy="129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70"/>
              </a:lnSpc>
            </a:pPr>
            <a:r>
              <a:rPr lang="ar-SA" sz="7693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أهداف المشروع : </a:t>
            </a:r>
            <a:endParaRPr lang="en-US" sz="7693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640080" y="4492577"/>
            <a:ext cx="6557526" cy="662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تنظيم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بيانات الكتب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والأقسام</a:t>
            </a:r>
            <a:endParaRPr lang="ar-SA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13"/>
          <p:cNvSpPr/>
          <p:nvPr/>
        </p:nvSpPr>
        <p:spPr>
          <a:xfrm>
            <a:off x="1545555" y="3883270"/>
            <a:ext cx="3720313" cy="4241045"/>
          </a:xfrm>
          <a:custGeom>
            <a:avLst/>
            <a:gdLst/>
            <a:ahLst/>
            <a:cxnLst/>
            <a:rect l="l" t="t" r="r" b="b"/>
            <a:pathLst>
              <a:path w="4955736" h="5315219">
                <a:moveTo>
                  <a:pt x="0" y="0"/>
                </a:moveTo>
                <a:lnTo>
                  <a:pt x="4955736" y="0"/>
                </a:lnTo>
                <a:lnTo>
                  <a:pt x="4955736" y="5315219"/>
                </a:lnTo>
                <a:lnTo>
                  <a:pt x="0" y="5315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3" name="TextBox 16"/>
          <p:cNvSpPr txBox="1"/>
          <p:nvPr/>
        </p:nvSpPr>
        <p:spPr>
          <a:xfrm>
            <a:off x="7640080" y="5203876"/>
            <a:ext cx="6557526" cy="662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إدارة عمليات الاستعارة والإرجاع</a:t>
            </a:r>
          </a:p>
        </p:txBody>
      </p:sp>
      <p:sp>
        <p:nvSpPr>
          <p:cNvPr id="35" name="TextBox 16"/>
          <p:cNvSpPr txBox="1"/>
          <p:nvPr/>
        </p:nvSpPr>
        <p:spPr>
          <a:xfrm>
            <a:off x="7654177" y="5934393"/>
            <a:ext cx="6557526" cy="1401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تطبيق مفاهيم البرمجة كائنية التوجه</a:t>
            </a:r>
            <a:b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</a:br>
            <a:endParaRPr lang="ar-SA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36" name="TextBox 16"/>
          <p:cNvSpPr txBox="1"/>
          <p:nvPr/>
        </p:nvSpPr>
        <p:spPr>
          <a:xfrm>
            <a:off x="7754380" y="6759388"/>
            <a:ext cx="6557526" cy="1401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استخدام أنماط التصميم البرمجية</a:t>
            </a:r>
            <a:b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</a:br>
            <a:endParaRPr lang="ar-SA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37" name="TextBox 16"/>
          <p:cNvSpPr txBox="1"/>
          <p:nvPr/>
        </p:nvSpPr>
        <p:spPr>
          <a:xfrm>
            <a:off x="7754380" y="7570118"/>
            <a:ext cx="6557526" cy="1401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تحسين جودة وتنظيم الكود</a:t>
            </a:r>
            <a:b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</a:br>
            <a:endParaRPr lang="ar-SA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33" grpId="0"/>
      <p:bldP spid="35" grpId="0"/>
      <p:bldP spid="3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67200" y="1750027"/>
            <a:ext cx="9759838" cy="268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70"/>
              </a:lnSpc>
            </a:pPr>
            <a:r>
              <a:rPr lang="ar-SA" sz="7693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أنماط التصميم المستخدمة :  </a:t>
            </a:r>
            <a:endParaRPr lang="en-US" sz="7693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340091" y="7111032"/>
            <a:ext cx="348844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800" b="1" dirty="0" smtClean="0">
                <a:solidFill>
                  <a:srgbClr val="46222E"/>
                </a:solidFill>
                <a:latin typeface="Castellar" pitchFamily="18" charset="0"/>
                <a:ea typeface="Carollo Playscript"/>
                <a:cs typeface="Calibri" pitchFamily="34" charset="0"/>
                <a:sym typeface="Carollo Playscript"/>
              </a:rPr>
              <a:t>Singleton patterns</a:t>
            </a:r>
            <a:endParaRPr lang="en-US" sz="2800" b="1" dirty="0">
              <a:solidFill>
                <a:srgbClr val="46222E"/>
              </a:solidFill>
              <a:latin typeface="Castellar" pitchFamily="18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430396" y="7111032"/>
            <a:ext cx="348844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560" b="1" dirty="0" smtClean="0">
                <a:solidFill>
                  <a:srgbClr val="46222E"/>
                </a:solidFill>
                <a:latin typeface="Castellar" pitchFamily="18" charset="0"/>
                <a:ea typeface="Carollo Playscript"/>
                <a:cs typeface="Calibri" pitchFamily="34" charset="0"/>
                <a:sym typeface="Carollo Playscript"/>
              </a:rPr>
              <a:t>Composite patterns</a:t>
            </a:r>
            <a:endParaRPr lang="en-US" sz="2560" b="1" dirty="0">
              <a:solidFill>
                <a:srgbClr val="46222E"/>
              </a:solidFill>
              <a:latin typeface="Castellar" pitchFamily="18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282814" y="7134638"/>
            <a:ext cx="348844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400" b="1" dirty="0" smtClean="0">
                <a:solidFill>
                  <a:srgbClr val="46222E"/>
                </a:solidFill>
                <a:latin typeface="Castellar" pitchFamily="18" charset="0"/>
                <a:ea typeface="Carollo Playscript"/>
                <a:cs typeface="Calibri" pitchFamily="34" charset="0"/>
                <a:sym typeface="Carollo Playscript"/>
              </a:rPr>
              <a:t>Command patterns</a:t>
            </a:r>
            <a:endParaRPr lang="en-US" sz="2400" b="1" dirty="0">
              <a:solidFill>
                <a:srgbClr val="46222E"/>
              </a:solidFill>
              <a:latin typeface="Castellar" pitchFamily="18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Freeform 2"/>
          <p:cNvSpPr/>
          <p:nvPr/>
        </p:nvSpPr>
        <p:spPr>
          <a:xfrm>
            <a:off x="2846467" y="3854188"/>
            <a:ext cx="1951056" cy="2505101"/>
          </a:xfrm>
          <a:custGeom>
            <a:avLst/>
            <a:gdLst/>
            <a:ahLst/>
            <a:cxnLst/>
            <a:rect l="l" t="t" r="r" b="b"/>
            <a:pathLst>
              <a:path w="3007545" h="4114800">
                <a:moveTo>
                  <a:pt x="0" y="0"/>
                </a:moveTo>
                <a:lnTo>
                  <a:pt x="3007545" y="0"/>
                </a:lnTo>
                <a:lnTo>
                  <a:pt x="30075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"/>
          <p:cNvSpPr/>
          <p:nvPr/>
        </p:nvSpPr>
        <p:spPr>
          <a:xfrm>
            <a:off x="7576566" y="3658939"/>
            <a:ext cx="2994043" cy="2895600"/>
          </a:xfrm>
          <a:custGeom>
            <a:avLst/>
            <a:gdLst/>
            <a:ahLst/>
            <a:cxnLst/>
            <a:rect l="l" t="t" r="r" b="b"/>
            <a:pathLst>
              <a:path w="5941338" h="5833314">
                <a:moveTo>
                  <a:pt x="0" y="0"/>
                </a:moveTo>
                <a:lnTo>
                  <a:pt x="5941338" y="0"/>
                </a:lnTo>
                <a:lnTo>
                  <a:pt x="5941338" y="5833314"/>
                </a:lnTo>
                <a:lnTo>
                  <a:pt x="0" y="58333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4"/>
          <p:cNvSpPr/>
          <p:nvPr/>
        </p:nvSpPr>
        <p:spPr>
          <a:xfrm>
            <a:off x="12003766" y="4090555"/>
            <a:ext cx="4046541" cy="2270072"/>
          </a:xfrm>
          <a:custGeom>
            <a:avLst/>
            <a:gdLst/>
            <a:ahLst/>
            <a:cxnLst/>
            <a:rect l="l" t="t" r="r" b="b"/>
            <a:pathLst>
              <a:path w="6842988" h="5089472">
                <a:moveTo>
                  <a:pt x="0" y="0"/>
                </a:moveTo>
                <a:lnTo>
                  <a:pt x="6842988" y="0"/>
                </a:lnTo>
                <a:lnTo>
                  <a:pt x="6842988" y="5089472"/>
                </a:lnTo>
                <a:lnTo>
                  <a:pt x="0" y="50894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39177" y="-196570"/>
            <a:ext cx="9558374" cy="1367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19"/>
              </a:lnSpc>
            </a:pPr>
            <a:r>
              <a:rPr lang="en-US" sz="8000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System Class Diagram </a:t>
            </a:r>
            <a:endParaRPr lang="en-US" sz="8000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مستطيل 17"/>
          <p:cNvSpPr/>
          <p:nvPr/>
        </p:nvSpPr>
        <p:spPr>
          <a:xfrm>
            <a:off x="4096756" y="4208306"/>
            <a:ext cx="9144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13"/>
              </a:rPr>
              <a:t>hLZTRjn45BvVQTzXb9jwkxkL2bojGjGaAwILcX1bYxX024tioSQArmxZSSAsz88sWIey1XBv4JHKgLJWIUotuSoVFJEs5mLo4SLppfdl_CuvC_iaPPYoR1vrEmzGSLQSvXVvx_cV-TK85J_bV-GNAByeJekp_6t-8V-0YdFuTv5V5gya_NNn9hzH8l3vcrWMRs (1).</a:t>
            </a:r>
            <a:r>
              <a:rPr lang="en-US" dirty="0" err="1">
                <a:hlinkClick r:id="rId13"/>
              </a:rPr>
              <a:t>svg</a:t>
            </a:r>
            <a:endParaRPr lang="ar-SA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95797" y="0"/>
            <a:ext cx="8917697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Use Case Diagram</a:t>
            </a:r>
            <a:endParaRPr lang="en-US" sz="7693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مستطيل 17"/>
          <p:cNvSpPr/>
          <p:nvPr/>
        </p:nvSpPr>
        <p:spPr>
          <a:xfrm>
            <a:off x="4572000" y="4681835"/>
            <a:ext cx="9144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12"/>
              </a:rPr>
              <a:t>RLNDRXen4BuZyGuZBaaEfFS8eVmTsqjHSyh50eUikjcDTesYgEq10YdYBQgAGaX8IYbfU9FnstHixwwz2nU4PpxFV3FxpVWm5YmIdIk_NFBvXG0HGkIrBmMql8WtXHS6vLAvn9eYZA224zcN0rpY39_nHGv06N2D4pgCAi1Y-1JpoC9_oe4SoNimz-GTtPlYWmOUjQwy81SO.svg</a:t>
            </a:r>
            <a:endParaRPr lang="ar-SA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042452" y="-167068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06</a:t>
            </a:r>
          </a:p>
        </p:txBody>
      </p:sp>
      <p:sp>
        <p:nvSpPr>
          <p:cNvPr id="19" name="Freeform 19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14"/>
          <p:cNvSpPr txBox="1"/>
          <p:nvPr/>
        </p:nvSpPr>
        <p:spPr>
          <a:xfrm>
            <a:off x="7081302" y="597756"/>
            <a:ext cx="13032497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 algn="ctr">
              <a:lnSpc>
                <a:spcPts val="10770"/>
              </a:lnSpc>
              <a:buFont typeface="Wingdings" pitchFamily="2" charset="2"/>
              <a:buChar char="Ø"/>
            </a:pPr>
            <a:r>
              <a:rPr lang="en-US" sz="4000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Sequence Diagram</a:t>
            </a:r>
            <a:endParaRPr lang="en-US" sz="4000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8" name="مستطيل 17"/>
          <p:cNvSpPr/>
          <p:nvPr/>
        </p:nvSpPr>
        <p:spPr>
          <a:xfrm>
            <a:off x="7682702" y="4958834"/>
            <a:ext cx="2922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dirty="0">
                <a:hlinkClick r:id="rId12"/>
              </a:rPr>
              <a:t>تسلسل العمليات في نظام إدارة المكتبة</a:t>
            </a:r>
            <a:endParaRPr lang="ar-SA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789256" y="129025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28281" y="773876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141138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713988" y="721327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815146" y="1104900"/>
            <a:ext cx="6312293" cy="1104900"/>
            <a:chOff x="0" y="0"/>
            <a:chExt cx="2060020" cy="378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60020" cy="378080"/>
            </a:xfrm>
            <a:custGeom>
              <a:avLst/>
              <a:gdLst/>
              <a:ahLst/>
              <a:cxnLst/>
              <a:rect l="l" t="t" r="r" b="b"/>
              <a:pathLst>
                <a:path w="2060020" h="378080">
                  <a:moveTo>
                    <a:pt x="98981" y="0"/>
                  </a:moveTo>
                  <a:lnTo>
                    <a:pt x="1961040" y="0"/>
                  </a:lnTo>
                  <a:cubicBezTo>
                    <a:pt x="2015705" y="0"/>
                    <a:pt x="2060020" y="44315"/>
                    <a:pt x="2060020" y="98981"/>
                  </a:cubicBezTo>
                  <a:lnTo>
                    <a:pt x="2060020" y="279099"/>
                  </a:lnTo>
                  <a:cubicBezTo>
                    <a:pt x="2060020" y="333765"/>
                    <a:pt x="2015705" y="378080"/>
                    <a:pt x="1961040" y="378080"/>
                  </a:cubicBezTo>
                  <a:lnTo>
                    <a:pt x="98981" y="378080"/>
                  </a:lnTo>
                  <a:cubicBezTo>
                    <a:pt x="44315" y="378080"/>
                    <a:pt x="0" y="333765"/>
                    <a:pt x="0" y="279099"/>
                  </a:cubicBezTo>
                  <a:lnTo>
                    <a:pt x="0" y="98981"/>
                  </a:lnTo>
                  <a:cubicBezTo>
                    <a:pt x="0" y="44315"/>
                    <a:pt x="44315" y="0"/>
                    <a:pt x="98981" y="0"/>
                  </a:cubicBezTo>
                  <a:close/>
                </a:path>
              </a:pathLst>
            </a:custGeom>
            <a:solidFill>
              <a:srgbClr val="46222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60020" cy="416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34679" y="987193"/>
            <a:ext cx="5203019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 algn="ctr">
              <a:lnSpc>
                <a:spcPts val="9997"/>
              </a:lnSpc>
              <a:buFont typeface="Wingdings" pitchFamily="2" charset="2"/>
              <a:buChar char="Ø"/>
            </a:pPr>
            <a:r>
              <a:rPr lang="ar-SA" sz="4800" dirty="0" smtClean="0">
                <a:solidFill>
                  <a:srgbClr val="FFF6E7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تطبيق انماط التصميم</a:t>
            </a:r>
            <a:endParaRPr lang="en-US" sz="4800" dirty="0">
              <a:solidFill>
                <a:srgbClr val="FFF6E7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25933" y="2186795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00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Main.java                    -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الواجهة الرئيسية</a:t>
            </a: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3437123" y="9258300"/>
            <a:ext cx="1900973" cy="1950626"/>
          </a:xfrm>
          <a:custGeom>
            <a:avLst/>
            <a:gdLst/>
            <a:ahLst/>
            <a:cxnLst/>
            <a:rect l="l" t="t" r="r" b="b"/>
            <a:pathLst>
              <a:path w="1900973" h="1950626">
                <a:moveTo>
                  <a:pt x="0" y="0"/>
                </a:moveTo>
                <a:lnTo>
                  <a:pt x="1900973" y="0"/>
                </a:lnTo>
                <a:lnTo>
                  <a:pt x="1900973" y="1950626"/>
                </a:lnTo>
                <a:lnTo>
                  <a:pt x="0" y="1950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977810" y="3052417"/>
            <a:ext cx="1928197" cy="1978560"/>
          </a:xfrm>
          <a:custGeom>
            <a:avLst/>
            <a:gdLst/>
            <a:ahLst/>
            <a:cxnLst/>
            <a:rect l="l" t="t" r="r" b="b"/>
            <a:pathLst>
              <a:path w="1928197" h="1978560">
                <a:moveTo>
                  <a:pt x="0" y="0"/>
                </a:moveTo>
                <a:lnTo>
                  <a:pt x="1928197" y="0"/>
                </a:lnTo>
                <a:lnTo>
                  <a:pt x="1928197" y="1978560"/>
                </a:lnTo>
                <a:lnTo>
                  <a:pt x="0" y="1978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2484260" y="1628394"/>
            <a:ext cx="281340" cy="28134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3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3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 dirty="0" smtClean="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07</a:t>
            </a:r>
            <a:endParaRPr lang="en-US" sz="3880" dirty="0">
              <a:solidFill>
                <a:srgbClr val="46222E"/>
              </a:solidFill>
              <a:latin typeface="Wellfleet"/>
              <a:ea typeface="Wellfleet"/>
              <a:cs typeface="Wellfleet"/>
              <a:sym typeface="Wellfleet"/>
            </a:endParaRPr>
          </a:p>
        </p:txBody>
      </p:sp>
      <p:sp>
        <p:nvSpPr>
          <p:cNvPr id="36" name="TextBox 15"/>
          <p:cNvSpPr txBox="1"/>
          <p:nvPr/>
        </p:nvSpPr>
        <p:spPr>
          <a:xfrm>
            <a:off x="339590" y="2955057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2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LibraryManager.java          - Singleton (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النمط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الفردي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37" name="TextBox 15"/>
          <p:cNvSpPr txBox="1"/>
          <p:nvPr/>
        </p:nvSpPr>
        <p:spPr>
          <a:xfrm>
            <a:off x="8742930" y="5763748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12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Invoker.java                - Command 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  ( منفذ الأوامر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38" name="TextBox 15"/>
          <p:cNvSpPr txBox="1"/>
          <p:nvPr/>
        </p:nvSpPr>
        <p:spPr>
          <a:xfrm>
            <a:off x="3805762" y="2836963"/>
            <a:ext cx="18550709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8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BorrowBookCommand.java       - Command 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 أمر استعارة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</p:txBody>
      </p:sp>
      <p:sp>
        <p:nvSpPr>
          <p:cNvPr id="39" name="TextBox 15"/>
          <p:cNvSpPr txBox="1"/>
          <p:nvPr/>
        </p:nvSpPr>
        <p:spPr>
          <a:xfrm>
            <a:off x="9614945" y="7685472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14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User.java                         -  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بيانات المستخدم </a:t>
            </a:r>
            <a:endParaRPr lang="en-US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0" name="TextBox 15"/>
          <p:cNvSpPr txBox="1"/>
          <p:nvPr/>
        </p:nvSpPr>
        <p:spPr>
          <a:xfrm>
            <a:off x="8742930" y="3176075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9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ReturnBookCommand.java       - Command (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أمر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إرجاع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1" name="TextBox 15"/>
          <p:cNvSpPr txBox="1"/>
          <p:nvPr/>
        </p:nvSpPr>
        <p:spPr>
          <a:xfrm>
            <a:off x="8742928" y="4043650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10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DeleteBookCommand.java      - Command 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 </a:t>
            </a:r>
            <a:r>
              <a:rPr lang="ar-SA" sz="322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(أمر </a:t>
            </a:r>
            <a:r>
              <a:rPr lang="ar-SA" sz="322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حذف </a:t>
            </a:r>
            <a:r>
              <a:rPr lang="ar-SA" sz="322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كتاب </a:t>
            </a:r>
            <a:endParaRPr lang="ar-SA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2" name="TextBox 15"/>
          <p:cNvSpPr txBox="1"/>
          <p:nvPr/>
        </p:nvSpPr>
        <p:spPr>
          <a:xfrm>
            <a:off x="8702920" y="6629369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13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LoginSystem.java            - 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نظام تسجيل الدخول</a:t>
            </a: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3" name="TextBox 15"/>
          <p:cNvSpPr txBox="1"/>
          <p:nvPr/>
        </p:nvSpPr>
        <p:spPr>
          <a:xfrm>
            <a:off x="377127" y="7260952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7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AddBookCommand.java          - Command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(أمر إضافة كتاب)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4" name="TextBox 15"/>
          <p:cNvSpPr txBox="1"/>
          <p:nvPr/>
        </p:nvSpPr>
        <p:spPr>
          <a:xfrm>
            <a:off x="308920" y="6480009"/>
            <a:ext cx="18550709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6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Command.java                 - Command (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واجهة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الأمر</a:t>
            </a:r>
            <a:r>
              <a:rPr lang="en-US" sz="322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5" name="TextBox 15"/>
          <p:cNvSpPr txBox="1"/>
          <p:nvPr/>
        </p:nvSpPr>
        <p:spPr>
          <a:xfrm>
            <a:off x="221018" y="5418210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5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LibraryItem.java             - Composite 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الواجهة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6" name="TextBox 15"/>
          <p:cNvSpPr txBox="1"/>
          <p:nvPr/>
        </p:nvSpPr>
        <p:spPr>
          <a:xfrm>
            <a:off x="8742929" y="4898127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11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DeleteSectionCommand.java   - Command (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أمر حذف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قسم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7" name="TextBox 15"/>
          <p:cNvSpPr txBox="1"/>
          <p:nvPr/>
        </p:nvSpPr>
        <p:spPr>
          <a:xfrm>
            <a:off x="328300" y="3786644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3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Book.java                    - Composite 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الكتاب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8" name="TextBox 15"/>
          <p:cNvSpPr txBox="1"/>
          <p:nvPr/>
        </p:nvSpPr>
        <p:spPr>
          <a:xfrm>
            <a:off x="308920" y="4619477"/>
            <a:ext cx="18550709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4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Section.java                 - Composite 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القسم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en-US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pic>
        <p:nvPicPr>
          <p:cNvPr id="49" name="Picture 2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292256" y="567571"/>
            <a:ext cx="2469724" cy="193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69593" y="-78705"/>
            <a:ext cx="4318216" cy="2187978"/>
          </a:xfrm>
          <a:custGeom>
            <a:avLst/>
            <a:gdLst/>
            <a:ahLst/>
            <a:cxnLst/>
            <a:rect l="l" t="t" r="r" b="b"/>
            <a:pathLst>
              <a:path w="7644355" h="7029621">
                <a:moveTo>
                  <a:pt x="0" y="0"/>
                </a:moveTo>
                <a:lnTo>
                  <a:pt x="7644355" y="0"/>
                </a:lnTo>
                <a:lnTo>
                  <a:pt x="7644355" y="7029622"/>
                </a:lnTo>
                <a:lnTo>
                  <a:pt x="0" y="7029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87200" y="-4383938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922223" y="-2300869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789256" y="129025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28281" y="773876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725909" y="5981700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13988" y="721327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08920" y="2778727"/>
            <a:ext cx="1928197" cy="1978560"/>
          </a:xfrm>
          <a:custGeom>
            <a:avLst/>
            <a:gdLst/>
            <a:ahLst/>
            <a:cxnLst/>
            <a:rect l="l" t="t" r="r" b="b"/>
            <a:pathLst>
              <a:path w="1928197" h="1978560">
                <a:moveTo>
                  <a:pt x="0" y="0"/>
                </a:moveTo>
                <a:lnTo>
                  <a:pt x="1928197" y="0"/>
                </a:lnTo>
                <a:lnTo>
                  <a:pt x="1928197" y="1978560"/>
                </a:lnTo>
                <a:lnTo>
                  <a:pt x="0" y="1978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437123" y="9258300"/>
            <a:ext cx="1900973" cy="1950626"/>
          </a:xfrm>
          <a:custGeom>
            <a:avLst/>
            <a:gdLst/>
            <a:ahLst/>
            <a:cxnLst/>
            <a:rect l="l" t="t" r="r" b="b"/>
            <a:pathLst>
              <a:path w="1900973" h="1950626">
                <a:moveTo>
                  <a:pt x="0" y="0"/>
                </a:moveTo>
                <a:lnTo>
                  <a:pt x="1900973" y="0"/>
                </a:lnTo>
                <a:lnTo>
                  <a:pt x="1900973" y="1950626"/>
                </a:lnTo>
                <a:lnTo>
                  <a:pt x="0" y="1950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124200" y="618671"/>
            <a:ext cx="7266745" cy="1367542"/>
          </a:xfrm>
          <a:custGeom>
            <a:avLst/>
            <a:gdLst/>
            <a:ahLst/>
            <a:cxnLst/>
            <a:rect l="l" t="t" r="r" b="b"/>
            <a:pathLst>
              <a:path w="8879957" h="1859271">
                <a:moveTo>
                  <a:pt x="0" y="0"/>
                </a:moveTo>
                <a:lnTo>
                  <a:pt x="8879957" y="0"/>
                </a:lnTo>
                <a:lnTo>
                  <a:pt x="8879957" y="1859271"/>
                </a:lnTo>
                <a:lnTo>
                  <a:pt x="0" y="18592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9739385" y="2124055"/>
            <a:ext cx="281340" cy="2813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73443" y="2778727"/>
            <a:ext cx="15621009" cy="6008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لشرح تصميم النظام , حيث :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en-US" sz="3200" b="1" dirty="0" err="1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Uml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تم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استخدام مخططات </a:t>
            </a:r>
            <a:endParaRPr lang="ar-SA" sz="3200" b="1" dirty="0" smtClean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البنية العامة و العلاقات بين </a:t>
            </a:r>
            <a:r>
              <a:rPr lang="ar-SA" sz="3200" b="1" dirty="0" err="1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الكلاسات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.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: Class </a:t>
            </a:r>
            <a:r>
              <a:rPr lang="en-US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Diagram </a:t>
            </a:r>
            <a:endParaRPr lang="en-US" sz="3200" b="1" dirty="0" smtClean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يوضح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وظائف النظام من وجهة نظر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المستخدم.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: Use </a:t>
            </a:r>
            <a:r>
              <a:rPr lang="en-US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Case Diagram </a:t>
            </a:r>
            <a:endParaRPr lang="en-US" sz="3200" b="1" dirty="0" smtClean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يوضح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تسلسل تنفيذ العمليات داخل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النظام .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: Sequence </a:t>
            </a:r>
            <a:r>
              <a:rPr lang="en-US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Diagram </a:t>
            </a:r>
            <a:endParaRPr lang="en-US" sz="3200" b="1" dirty="0" smtClean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  <a:p>
            <a:pPr algn="ctr">
              <a:lnSpc>
                <a:spcPct val="150000"/>
              </a:lnSpc>
            </a:pP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كما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تم تطبيق أنماط التصميم البرمجية لتحسين تنظيم الكود، تقليل التكرار، وزيادة قابلية الصيانة والتوسعة.</a:t>
            </a:r>
          </a:p>
          <a:p>
            <a:pPr algn="ctr">
              <a:lnSpc>
                <a:spcPct val="150000"/>
              </a:lnSpc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ساعدت هذه الأنماط في فصل المسؤوليات داخل النظام وجعل التصميم أكثر وضوحًا ومرونة.</a:t>
            </a:r>
          </a:p>
          <a:p>
            <a:pPr algn="ctr">
              <a:lnSpc>
                <a:spcPct val="150000"/>
              </a:lnSpc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في الختام، يحقق المشروع أهدافه من حيث التنظيم والتصميم الجيد، ويمكن تطويره مستقبلاً بإضافة واجهة رسومية أو قاعدة بيانات لزيادة كفاءة النظام.</a:t>
            </a:r>
            <a:endParaRPr lang="en-US" sz="3200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770206" y="600402"/>
            <a:ext cx="7930343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37"/>
              </a:lnSpc>
            </a:pPr>
            <a:r>
              <a:rPr lang="ar-SA" sz="6000" b="1" dirty="0" smtClean="0">
                <a:solidFill>
                  <a:srgbClr val="FFF6E7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الخلاصة</a:t>
            </a:r>
            <a:r>
              <a:rPr lang="ar-SA" sz="4400" b="1" dirty="0" smtClean="0">
                <a:solidFill>
                  <a:srgbClr val="FFF6E7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endParaRPr lang="en-US" sz="4400" b="1" dirty="0">
              <a:solidFill>
                <a:srgbClr val="FFF6E7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028080" y="9833211"/>
            <a:ext cx="400402" cy="40040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 dirty="0" smtClean="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08</a:t>
            </a:r>
            <a:endParaRPr lang="en-US" sz="3880" dirty="0">
              <a:solidFill>
                <a:srgbClr val="46222E"/>
              </a:solidFill>
              <a:latin typeface="Wellfleet"/>
              <a:ea typeface="Wellfleet"/>
              <a:cs typeface="Wellfleet"/>
              <a:sym typeface="Wellfleet"/>
            </a:endParaRPr>
          </a:p>
        </p:txBody>
      </p:sp>
      <p:grpSp>
        <p:nvGrpSpPr>
          <p:cNvPr id="31" name="Group 10"/>
          <p:cNvGrpSpPr/>
          <p:nvPr/>
        </p:nvGrpSpPr>
        <p:grpSpPr>
          <a:xfrm>
            <a:off x="15903173" y="9103519"/>
            <a:ext cx="3443288" cy="966788"/>
            <a:chOff x="0" y="0"/>
            <a:chExt cx="906874" cy="254627"/>
          </a:xfrm>
        </p:grpSpPr>
        <p:sp>
          <p:nvSpPr>
            <p:cNvPr id="32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33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13"/>
          <p:cNvSpPr txBox="1"/>
          <p:nvPr/>
        </p:nvSpPr>
        <p:spPr>
          <a:xfrm>
            <a:off x="16487187" y="9293852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 dirty="0" smtClean="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08</a:t>
            </a:r>
            <a:endParaRPr lang="en-US" sz="3880" dirty="0">
              <a:solidFill>
                <a:srgbClr val="46222E"/>
              </a:solidFill>
              <a:latin typeface="Wellfleet"/>
              <a:ea typeface="Wellfleet"/>
              <a:cs typeface="Wellfleet"/>
              <a:sym typeface="Wellfleet"/>
            </a:endParaRPr>
          </a:p>
        </p:txBody>
      </p:sp>
      <p:pic>
        <p:nvPicPr>
          <p:cNvPr id="35" name="Picture 3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 rot="923286">
            <a:off x="2789256" y="2264725"/>
            <a:ext cx="2480383" cy="282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7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 dirty="0" smtClean="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09</a:t>
            </a:r>
            <a:endParaRPr lang="en-US" sz="3880" dirty="0">
              <a:solidFill>
                <a:srgbClr val="46222E"/>
              </a:solidFill>
              <a:latin typeface="Wellfleet"/>
              <a:ea typeface="Wellfleet"/>
              <a:cs typeface="Wellfleet"/>
              <a:sym typeface="Wellfle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73050" y="5124038"/>
            <a:ext cx="8917697" cy="129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70"/>
              </a:lnSpc>
            </a:pPr>
            <a:r>
              <a:rPr lang="ar-SA" sz="7693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أي سؤال ؟</a:t>
            </a:r>
            <a:endParaRPr lang="en-US" sz="7693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13"/>
          <p:cNvSpPr/>
          <p:nvPr/>
        </p:nvSpPr>
        <p:spPr>
          <a:xfrm>
            <a:off x="1545555" y="3883270"/>
            <a:ext cx="3720313" cy="4241045"/>
          </a:xfrm>
          <a:custGeom>
            <a:avLst/>
            <a:gdLst/>
            <a:ahLst/>
            <a:cxnLst/>
            <a:rect l="l" t="t" r="r" b="b"/>
            <a:pathLst>
              <a:path w="4955736" h="5315219">
                <a:moveTo>
                  <a:pt x="0" y="0"/>
                </a:moveTo>
                <a:lnTo>
                  <a:pt x="4955736" y="0"/>
                </a:lnTo>
                <a:lnTo>
                  <a:pt x="4955736" y="5315219"/>
                </a:lnTo>
                <a:lnTo>
                  <a:pt x="0" y="5315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989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351</Words>
  <Application>Microsoft Office PowerPoint</Application>
  <PresentationFormat>مخصص</PresentationFormat>
  <Paragraphs>72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7" baseType="lpstr">
      <vt:lpstr>Arial</vt:lpstr>
      <vt:lpstr>Carollo Playscript</vt:lpstr>
      <vt:lpstr>Castellar</vt:lpstr>
      <vt:lpstr>Calibri</vt:lpstr>
      <vt:lpstr>Wellfleet</vt:lpstr>
      <vt:lpstr>Wingdings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kholoud</dc:creator>
  <cp:lastModifiedBy>kholoud</cp:lastModifiedBy>
  <cp:revision>37</cp:revision>
  <dcterms:created xsi:type="dcterms:W3CDTF">2006-08-16T00:00:00Z</dcterms:created>
  <dcterms:modified xsi:type="dcterms:W3CDTF">2026-01-01T13:51:53Z</dcterms:modified>
  <dc:identifier>DAG79ZKXGAI</dc:identifier>
</cp:coreProperties>
</file>